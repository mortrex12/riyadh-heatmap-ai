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126EC-0687-47E9-B013-3D07C85EE0A6}" type="datetimeFigureOut"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79E28-2485-48C5-82D3-1221214239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5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hyperlink" Target="https://landsat.gsfc.nasa.gov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lanet.com/products/planet-tanager/" TargetMode="External"/><Relationship Id="rId5" Type="http://schemas.openxmlformats.org/officeDocument/2006/relationships/hyperlink" Target="https://dataspace.copernicus.eu/" TargetMode="Externa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840976" y="634055"/>
            <a:ext cx="5239206" cy="2372241"/>
          </a:xfrm>
          <a:custGeom>
            <a:avLst/>
            <a:gdLst/>
            <a:ahLst/>
            <a:cxnLst/>
            <a:rect l="l" t="t" r="r" b="b"/>
            <a:pathLst>
              <a:path w="5239206" h="2372241">
                <a:moveTo>
                  <a:pt x="0" y="0"/>
                </a:moveTo>
                <a:lnTo>
                  <a:pt x="5239206" y="0"/>
                </a:lnTo>
                <a:lnTo>
                  <a:pt x="523920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40081" y="820864"/>
            <a:ext cx="5491778" cy="411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497" b="1">
                <a:solidFill>
                  <a:srgbClr val="38B6FF"/>
                </a:solidFill>
                <a:latin typeface="Times New Roman"/>
                <a:ea typeface="Roboto Bold"/>
                <a:cs typeface="Times New Roman"/>
                <a:sym typeface="Roboto Bold"/>
              </a:rPr>
              <a:t>SUSTAINABILITY CREW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0512" y="1903108"/>
            <a:ext cx="8522208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7200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RIYADH </a:t>
            </a:r>
            <a:endParaRPr lang="en-US">
              <a:ea typeface="Calibri"/>
              <a:cs typeface="Calibri"/>
            </a:endParaRPr>
          </a:p>
          <a:p>
            <a:r>
              <a:rPr lang="en-US" sz="7200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HEATMAP AI</a:t>
            </a:r>
            <a:endParaRPr lang="en-US" sz="7200" b="1">
              <a:solidFill>
                <a:srgbClr val="FFFFFF"/>
              </a:solidFill>
              <a:latin typeface="Times New Roman"/>
              <a:ea typeface="Roboto Condensed Bold"/>
              <a:cs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0513" y="4689973"/>
            <a:ext cx="8577072" cy="90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22"/>
              </a:lnSpc>
            </a:pPr>
            <a:r>
              <a:rPr lang="en-US" sz="2400" b="1">
                <a:solidFill>
                  <a:srgbClr val="FF8C00"/>
                </a:solidFill>
                <a:latin typeface="Times New Roman"/>
                <a:ea typeface="Roboto Bold"/>
                <a:cs typeface="Times New Roman"/>
                <a:sym typeface="Roboto Bold"/>
              </a:rPr>
              <a:t>SATELLITE EVIDENCE FOR COOLER URBAN </a:t>
            </a: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  <a:sym typeface="Roboto Bold"/>
            </a:endParaRPr>
          </a:p>
          <a:p>
            <a:pPr>
              <a:lnSpc>
                <a:spcPts val="3722"/>
              </a:lnSpc>
            </a:pPr>
            <a:r>
              <a:rPr lang="en-US" sz="2400" b="1">
                <a:solidFill>
                  <a:srgbClr val="FF8C00"/>
                </a:solidFill>
                <a:latin typeface="Times New Roman"/>
                <a:ea typeface="Roboto Bold"/>
                <a:cs typeface="Times New Roman"/>
                <a:sym typeface="Roboto Bold"/>
              </a:rPr>
              <a:t>EXPANSION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67281" y="5952087"/>
            <a:ext cx="6986016" cy="90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16"/>
              </a:lnSpc>
            </a:pPr>
            <a:r>
              <a:rPr lang="en-US" sz="285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A proof of concept for monitoring Riyadh hotspots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48142-77C4-4A9F-CB55-0322E4322A81}"/>
              </a:ext>
            </a:extLst>
          </p:cNvPr>
          <p:cNvSpPr txBox="1"/>
          <p:nvPr/>
        </p:nvSpPr>
        <p:spPr>
          <a:xfrm>
            <a:off x="287093" y="7122509"/>
            <a:ext cx="8712892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imes New Roman"/>
                <a:cs typeface="Times New Roman"/>
              </a:rPr>
              <a:t>Team members:</a:t>
            </a:r>
          </a:p>
          <a:p>
            <a:r>
              <a:rPr lang="en-US" sz="2800">
                <a:solidFill>
                  <a:schemeClr val="bg1"/>
                </a:solidFill>
                <a:latin typeface="Times New Roman"/>
                <a:cs typeface="Times New Roman"/>
              </a:rPr>
              <a:t>Fatima </a:t>
            </a:r>
            <a:r>
              <a:rPr lang="en-US" sz="2800" err="1">
                <a:solidFill>
                  <a:schemeClr val="bg1"/>
                </a:solidFill>
                <a:latin typeface="Times New Roman"/>
                <a:cs typeface="Times New Roman"/>
              </a:rPr>
              <a:t>alhaddad</a:t>
            </a:r>
            <a:r>
              <a:rPr lang="en-US" sz="2800">
                <a:solidFill>
                  <a:schemeClr val="bg1"/>
                </a:solidFill>
                <a:latin typeface="Times New Roman"/>
                <a:cs typeface="Times New Roman"/>
              </a:rPr>
              <a:t>        </a:t>
            </a:r>
            <a:endParaRPr lang="en-US" sz="28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US" sz="2800">
                <a:solidFill>
                  <a:schemeClr val="bg1"/>
                </a:solidFill>
                <a:latin typeface="Times New Roman"/>
                <a:cs typeface="Times New Roman"/>
              </a:rPr>
              <a:t> Jawad </a:t>
            </a:r>
            <a:r>
              <a:rPr lang="en-US" sz="2800" err="1">
                <a:solidFill>
                  <a:schemeClr val="bg1"/>
                </a:solidFill>
                <a:latin typeface="Times New Roman"/>
                <a:cs typeface="Times New Roman"/>
              </a:rPr>
              <a:t>alshakhahmad</a:t>
            </a:r>
            <a:r>
              <a:rPr lang="en-US" sz="2800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2800">
                <a:solidFill>
                  <a:schemeClr val="bg1"/>
                </a:solidFill>
                <a:latin typeface="Times New Roman"/>
                <a:cs typeface="Times New Roman"/>
              </a:rPr>
              <a:t> Ghadeer m</a:t>
            </a:r>
            <a:r>
              <a:rPr lang="en-US" sz="2800" err="1">
                <a:solidFill>
                  <a:schemeClr val="bg1"/>
                </a:solidFill>
                <a:latin typeface="Times New Roman"/>
                <a:cs typeface="Times New Roman"/>
              </a:rPr>
              <a:t>adhoob</a:t>
            </a:r>
            <a:endParaRPr lang="en-US" sz="28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US" sz="2800">
                <a:solidFill>
                  <a:schemeClr val="bg1"/>
                </a:solidFill>
                <a:latin typeface="Times New Roman"/>
                <a:cs typeface="Times New Roman"/>
              </a:rPr>
              <a:t>Hajar </a:t>
            </a:r>
            <a:r>
              <a:rPr lang="en-US" sz="2800" err="1">
                <a:solidFill>
                  <a:schemeClr val="bg1"/>
                </a:solidFill>
                <a:latin typeface="Times New Roman"/>
                <a:cs typeface="Times New Roman"/>
              </a:rPr>
              <a:t>Majeedi</a:t>
            </a:r>
            <a:endParaRPr lang="en-US" err="1">
              <a:solidFill>
                <a:schemeClr val="bg1"/>
              </a:solidFill>
            </a:endParaRPr>
          </a:p>
          <a:p>
            <a:r>
              <a:rPr lang="en-US" sz="2800">
                <a:solidFill>
                  <a:schemeClr val="bg1"/>
                </a:solidFill>
                <a:latin typeface="Times New Roman"/>
                <a:cs typeface="Times New Roman"/>
              </a:rPr>
              <a:t>Dana Hussain</a:t>
            </a:r>
          </a:p>
          <a:p>
            <a:endParaRPr lang="en-US" sz="28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144000" y="0"/>
            <a:ext cx="2614134" cy="10287000"/>
          </a:xfrm>
          <a:custGeom>
            <a:avLst/>
            <a:gdLst/>
            <a:ahLst/>
            <a:cxnLst/>
            <a:rect l="l" t="t" r="r" b="b"/>
            <a:pathLst>
              <a:path w="2614134" h="10287000">
                <a:moveTo>
                  <a:pt x="0" y="0"/>
                </a:moveTo>
                <a:lnTo>
                  <a:pt x="2614134" y="0"/>
                </a:lnTo>
                <a:lnTo>
                  <a:pt x="2614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40080" y="760355"/>
            <a:ext cx="5037842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800" b="1">
                <a:solidFill>
                  <a:srgbClr val="00A0E8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01 / WHY IT MATTERS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1421253"/>
            <a:ext cx="8961120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905"/>
              </a:lnSpc>
            </a:pPr>
            <a:r>
              <a:rPr lang="en-US" sz="7200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Heat is an urban design problem</a:t>
            </a:r>
            <a:endParaRPr lang="en-US" sz="7200" b="1">
              <a:solidFill>
                <a:srgbClr val="FFFFFF"/>
              </a:solidFill>
              <a:latin typeface="Times New Roman"/>
              <a:ea typeface="Roboto Condensed Bold"/>
              <a:cs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40080" y="4038261"/>
            <a:ext cx="5907024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2800" b="1">
                <a:solidFill>
                  <a:schemeClr val="bg1"/>
                </a:solidFill>
                <a:latin typeface="Times New Roman"/>
                <a:ea typeface="Roboto Bold"/>
                <a:cs typeface="Times New Roman"/>
                <a:sym typeface="Roboto Bold"/>
              </a:rPr>
              <a:t>-</a:t>
            </a:r>
            <a:r>
              <a:rPr lang="en-US" sz="2800" b="1">
                <a:solidFill>
                  <a:srgbClr val="FF8C00"/>
                </a:solidFill>
                <a:latin typeface="Times New Roman"/>
                <a:ea typeface="Roboto Bold"/>
                <a:cs typeface="Times New Roman"/>
                <a:sym typeface="Roboto Bold"/>
              </a:rPr>
              <a:t>489,000</a:t>
            </a:r>
            <a:r>
              <a:rPr lang="en-US" sz="280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 estimated heat-related deaths each year worldwide (2000–2019).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0080" y="5336693"/>
            <a:ext cx="501091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-WHO calls extreme heat a major climate and health risk.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6687015"/>
            <a:ext cx="5998464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-Riyadh adds a dense built environment, low vegetation and intense solar load.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7912530"/>
            <a:ext cx="689457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-The same desert climate can feel radically different from one street to the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30478" y="440645"/>
            <a:ext cx="4490955" cy="410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465" b="1">
                <a:solidFill>
                  <a:srgbClr val="00A6FF"/>
                </a:solidFill>
                <a:latin typeface="Times New Roman"/>
                <a:ea typeface="Roboto Bold"/>
                <a:cs typeface="Times New Roman"/>
                <a:sym typeface="Roboto Bold"/>
              </a:rPr>
              <a:t>02 /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1793" y="1066979"/>
            <a:ext cx="15006681" cy="1175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72"/>
              </a:lnSpc>
            </a:pPr>
            <a:r>
              <a:rPr lang="en-US" sz="7123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One workflow, two decisions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569017"/>
            <a:ext cx="4145426" cy="5367606"/>
          </a:xfrm>
          <a:custGeom>
            <a:avLst/>
            <a:gdLst/>
            <a:ahLst/>
            <a:cxnLst/>
            <a:rect l="l" t="t" r="r" b="b"/>
            <a:pathLst>
              <a:path w="4145426" h="5367606">
                <a:moveTo>
                  <a:pt x="0" y="0"/>
                </a:moveTo>
                <a:lnTo>
                  <a:pt x="4145426" y="0"/>
                </a:lnTo>
                <a:lnTo>
                  <a:pt x="4145426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26574" y="2569017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08176" y="2840263"/>
            <a:ext cx="2523744" cy="786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 b="1">
                <a:solidFill>
                  <a:srgbClr val="FFFFFF"/>
                </a:solidFill>
                <a:latin typeface="Times New Roman"/>
                <a:ea typeface="Roboto Bold"/>
                <a:cs typeface="Times New Roman"/>
                <a:sym typeface="Roboto Bold"/>
              </a:rPr>
              <a:t>SATELLITE INPUTS</a:t>
            </a:r>
          </a:p>
        </p:txBody>
      </p:sp>
      <p:sp>
        <p:nvSpPr>
          <p:cNvPr id="8" name="Freeform 8"/>
          <p:cNvSpPr/>
          <p:nvPr/>
        </p:nvSpPr>
        <p:spPr>
          <a:xfrm>
            <a:off x="501456" y="3624396"/>
            <a:ext cx="3901973" cy="4120474"/>
          </a:xfrm>
          <a:custGeom>
            <a:avLst/>
            <a:gdLst/>
            <a:ahLst/>
            <a:cxnLst/>
            <a:rect l="l" t="t" r="r" b="b"/>
            <a:pathLst>
              <a:path w="4145426" h="4514911">
                <a:moveTo>
                  <a:pt x="0" y="0"/>
                </a:moveTo>
                <a:lnTo>
                  <a:pt x="4145426" y="0"/>
                </a:lnTo>
                <a:lnTo>
                  <a:pt x="4145426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92643" y="6737744"/>
            <a:ext cx="2249424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Landsat </a:t>
            </a:r>
            <a:endParaRPr lang="en-US" sz="2800">
              <a:solidFill>
                <a:srgbClr val="FFFFFF"/>
              </a:solidFill>
              <a:latin typeface="Times New Roman"/>
              <a:ea typeface="Roboto"/>
              <a:cs typeface="Times New Roman"/>
            </a:endParaRPr>
          </a:p>
          <a:p>
            <a:pPr algn="l">
              <a:lnSpc>
                <a:spcPts val="3044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Sentinel 2</a:t>
            </a:r>
            <a:endParaRPr lang="en-US" sz="2800">
              <a:solidFill>
                <a:srgbClr val="FFFFFF"/>
              </a:solidFill>
              <a:latin typeface="Times New Roman"/>
              <a:ea typeface="Roboto"/>
              <a:cs typeface="Times New Roman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353244" y="4919394"/>
            <a:ext cx="656268" cy="448211"/>
          </a:xfrm>
          <a:custGeom>
            <a:avLst/>
            <a:gdLst/>
            <a:ahLst/>
            <a:cxnLst/>
            <a:rect l="l" t="t" r="r" b="b"/>
            <a:pathLst>
              <a:path w="656268" h="448211">
                <a:moveTo>
                  <a:pt x="0" y="0"/>
                </a:moveTo>
                <a:lnTo>
                  <a:pt x="656268" y="0"/>
                </a:lnTo>
                <a:lnTo>
                  <a:pt x="65626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4779818" y="2569017"/>
            <a:ext cx="4156364" cy="5367606"/>
          </a:xfrm>
          <a:custGeom>
            <a:avLst/>
            <a:gdLst/>
            <a:ahLst/>
            <a:cxnLst/>
            <a:rect l="l" t="t" r="r" b="b"/>
            <a:pathLst>
              <a:path w="4156364" h="5367606">
                <a:moveTo>
                  <a:pt x="0" y="0"/>
                </a:moveTo>
                <a:lnTo>
                  <a:pt x="4156364" y="0"/>
                </a:lnTo>
                <a:lnTo>
                  <a:pt x="4156364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4779818" y="2569017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16828" y="2830834"/>
            <a:ext cx="498751" cy="395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376" b="1">
                <a:solidFill>
                  <a:srgbClr val="FFFFFF"/>
                </a:solidFill>
                <a:latin typeface="Times New Roman"/>
                <a:ea typeface="Roboto Bold"/>
                <a:cs typeface="Times New Roman"/>
                <a:sym typeface="Roboto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42432" y="2835172"/>
            <a:ext cx="2258568" cy="381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287" b="1">
                <a:solidFill>
                  <a:srgbClr val="FFFFFF"/>
                </a:solidFill>
                <a:latin typeface="Times New Roman"/>
                <a:ea typeface="Roboto Bold"/>
                <a:cs typeface="Times New Roman"/>
                <a:sym typeface="Roboto Bold"/>
              </a:rPr>
              <a:t>HEAT ENGINE</a:t>
            </a:r>
          </a:p>
        </p:txBody>
      </p:sp>
      <p:sp>
        <p:nvSpPr>
          <p:cNvPr id="15" name="Freeform 15"/>
          <p:cNvSpPr/>
          <p:nvPr/>
        </p:nvSpPr>
        <p:spPr>
          <a:xfrm>
            <a:off x="4822103" y="3677288"/>
            <a:ext cx="4156364" cy="3443576"/>
          </a:xfrm>
          <a:custGeom>
            <a:avLst/>
            <a:gdLst/>
            <a:ahLst/>
            <a:cxnLst/>
            <a:rect l="l" t="t" r="r" b="b"/>
            <a:pathLst>
              <a:path w="4156364" h="3443576">
                <a:moveTo>
                  <a:pt x="0" y="0"/>
                </a:moveTo>
                <a:lnTo>
                  <a:pt x="4156364" y="0"/>
                </a:lnTo>
                <a:lnTo>
                  <a:pt x="4156364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859722" y="6529440"/>
            <a:ext cx="3204784" cy="1167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1"/>
              </a:lnSpc>
            </a:pPr>
            <a:r>
              <a:rPr lang="en-US" sz="2465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120 m grid</a:t>
            </a:r>
            <a:endParaRPr lang="en-US"/>
          </a:p>
          <a:p>
            <a:pPr algn="ctr">
              <a:lnSpc>
                <a:spcPts val="3081"/>
              </a:lnSpc>
            </a:pPr>
            <a:r>
              <a:rPr lang="en-US" sz="2465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NDVI / NDBI / BSI</a:t>
            </a:r>
            <a:endParaRPr lang="en-US" sz="2465">
              <a:solidFill>
                <a:srgbClr val="FFFFFF"/>
              </a:solidFill>
              <a:latin typeface="Times New Roman"/>
              <a:ea typeface="Roboto"/>
              <a:cs typeface="Times New Roman"/>
            </a:endParaRPr>
          </a:p>
          <a:p>
            <a:pPr algn="ctr">
              <a:lnSpc>
                <a:spcPts val="3081"/>
              </a:lnSpc>
            </a:pPr>
            <a:r>
              <a:rPr lang="en-US" sz="2465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Random forest</a:t>
            </a:r>
            <a:endParaRPr lang="en-US" sz="2465">
              <a:solidFill>
                <a:srgbClr val="FFFFFF"/>
              </a:solidFill>
              <a:latin typeface="Times New Roman"/>
              <a:ea typeface="Roboto"/>
              <a:cs typeface="Times New Roman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706488" y="4919394"/>
            <a:ext cx="656268" cy="448211"/>
          </a:xfrm>
          <a:custGeom>
            <a:avLst/>
            <a:gdLst/>
            <a:ahLst/>
            <a:cxnLst/>
            <a:rect l="l" t="t" r="r" b="b"/>
            <a:pathLst>
              <a:path w="656268" h="448211">
                <a:moveTo>
                  <a:pt x="0" y="0"/>
                </a:moveTo>
                <a:lnTo>
                  <a:pt x="656268" y="0"/>
                </a:lnTo>
                <a:lnTo>
                  <a:pt x="65626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9144000" y="2569017"/>
            <a:ext cx="4145426" cy="5367606"/>
          </a:xfrm>
          <a:custGeom>
            <a:avLst/>
            <a:gdLst/>
            <a:ahLst/>
            <a:cxnLst/>
            <a:rect l="l" t="t" r="r" b="b"/>
            <a:pathLst>
              <a:path w="4145426" h="5367606">
                <a:moveTo>
                  <a:pt x="0" y="0"/>
                </a:moveTo>
                <a:lnTo>
                  <a:pt x="4145426" y="0"/>
                </a:lnTo>
                <a:lnTo>
                  <a:pt x="4145426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9144000" y="2569017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436608" y="2830834"/>
            <a:ext cx="347472" cy="388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376" b="1">
                <a:solidFill>
                  <a:srgbClr val="FFFFFF"/>
                </a:solidFill>
                <a:latin typeface="Times New Roman"/>
                <a:ea typeface="Roboto Bold"/>
                <a:cs typeface="Times New Roman"/>
                <a:sym typeface="Roboto Bold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76688" y="2839887"/>
            <a:ext cx="1658112" cy="369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228" b="1">
                <a:solidFill>
                  <a:srgbClr val="FFFFFF"/>
                </a:solidFill>
                <a:latin typeface="Times New Roman"/>
                <a:ea typeface="Roboto Bold"/>
                <a:cs typeface="Times New Roman"/>
                <a:sym typeface="Roboto Bold"/>
              </a:rPr>
              <a:t>DECISION</a:t>
            </a:r>
          </a:p>
        </p:txBody>
      </p:sp>
      <p:sp>
        <p:nvSpPr>
          <p:cNvPr id="22" name="Freeform 22"/>
          <p:cNvSpPr/>
          <p:nvPr/>
        </p:nvSpPr>
        <p:spPr>
          <a:xfrm>
            <a:off x="9144000" y="3724984"/>
            <a:ext cx="4156364" cy="4211639"/>
          </a:xfrm>
          <a:custGeom>
            <a:avLst/>
            <a:gdLst/>
            <a:ahLst/>
            <a:cxnLst/>
            <a:rect l="l" t="t" r="r" b="b"/>
            <a:pathLst>
              <a:path w="4145426" h="4514911">
                <a:moveTo>
                  <a:pt x="0" y="0"/>
                </a:moveTo>
                <a:lnTo>
                  <a:pt x="4145426" y="0"/>
                </a:lnTo>
                <a:lnTo>
                  <a:pt x="4145426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0898767" y="4285339"/>
            <a:ext cx="2156246" cy="2826874"/>
          </a:xfrm>
          <a:custGeom>
            <a:avLst/>
            <a:gdLst/>
            <a:ahLst/>
            <a:cxnLst/>
            <a:rect l="l" t="t" r="r" b="b"/>
            <a:pathLst>
              <a:path w="2187560" h="2153601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320272" y="4507068"/>
            <a:ext cx="1408176" cy="2192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Hotspot cause</a:t>
            </a:r>
            <a:endParaRPr lang="en-US" sz="2400">
              <a:solidFill>
                <a:srgbClr val="FFFFFF"/>
              </a:solidFill>
              <a:latin typeface="Times New Roman"/>
              <a:ea typeface="Roboto Condensed"/>
              <a:cs typeface="Times New Roman"/>
            </a:endParaRPr>
          </a:p>
          <a:p>
            <a:pPr algn="l">
              <a:lnSpc>
                <a:spcPts val="3456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Action shortlist</a:t>
            </a:r>
            <a:endParaRPr lang="en-US" sz="2400">
              <a:solidFill>
                <a:srgbClr val="FFFFFF"/>
              </a:solidFill>
              <a:latin typeface="Times New Roman"/>
              <a:ea typeface="Roboto Condensed"/>
              <a:cs typeface="Times New Roman"/>
            </a:endParaRPr>
          </a:p>
          <a:p>
            <a:pPr algn="l">
              <a:lnSpc>
                <a:spcPts val="3456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Confidence</a:t>
            </a:r>
            <a:endParaRPr lang="en-US" sz="2400">
              <a:solidFill>
                <a:srgbClr val="FFFFFF"/>
              </a:solidFill>
              <a:latin typeface="Times New Roman"/>
              <a:ea typeface="Roboto Condensed"/>
              <a:cs typeface="Times New Roman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3497244" y="2569017"/>
            <a:ext cx="4145426" cy="5367606"/>
          </a:xfrm>
          <a:custGeom>
            <a:avLst/>
            <a:gdLst/>
            <a:ahLst/>
            <a:cxnLst/>
            <a:rect l="l" t="t" r="r" b="b"/>
            <a:pathLst>
              <a:path w="4145426" h="5367606">
                <a:moveTo>
                  <a:pt x="0" y="0"/>
                </a:moveTo>
                <a:lnTo>
                  <a:pt x="4145426" y="0"/>
                </a:lnTo>
                <a:lnTo>
                  <a:pt x="4145426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3497244" y="2569017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716000" y="2830834"/>
            <a:ext cx="347472" cy="388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376" b="1">
                <a:solidFill>
                  <a:srgbClr val="FFFFFF"/>
                </a:solidFill>
                <a:latin typeface="Times New Roman"/>
                <a:ea typeface="Roboto Bold"/>
                <a:cs typeface="Times New Roman"/>
                <a:sym typeface="Roboto Bold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13204" y="2816098"/>
            <a:ext cx="2566620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 b="1">
                <a:solidFill>
                  <a:srgbClr val="FFFFFF"/>
                </a:solidFill>
                <a:latin typeface="Times New Roman"/>
                <a:ea typeface="Roboto Bold"/>
                <a:cs typeface="Times New Roman"/>
                <a:sym typeface="Roboto Bold"/>
              </a:rPr>
              <a:t>EXPANSION TEST</a:t>
            </a:r>
          </a:p>
        </p:txBody>
      </p:sp>
      <p:sp>
        <p:nvSpPr>
          <p:cNvPr id="30" name="Freeform 30"/>
          <p:cNvSpPr/>
          <p:nvPr/>
        </p:nvSpPr>
        <p:spPr>
          <a:xfrm>
            <a:off x="13497244" y="3432644"/>
            <a:ext cx="4145426" cy="3421713"/>
          </a:xfrm>
          <a:custGeom>
            <a:avLst/>
            <a:gdLst/>
            <a:ahLst/>
            <a:cxnLst/>
            <a:rect l="l" t="t" r="r" b="b"/>
            <a:pathLst>
              <a:path w="4145426" h="3443576">
                <a:moveTo>
                  <a:pt x="0" y="0"/>
                </a:moveTo>
                <a:lnTo>
                  <a:pt x="4145426" y="0"/>
                </a:lnTo>
                <a:lnTo>
                  <a:pt x="414542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3059732" y="4919394"/>
            <a:ext cx="656268" cy="448211"/>
          </a:xfrm>
          <a:custGeom>
            <a:avLst/>
            <a:gdLst/>
            <a:ahLst/>
            <a:cxnLst/>
            <a:rect l="l" t="t" r="r" b="b"/>
            <a:pathLst>
              <a:path w="656268" h="448211">
                <a:moveTo>
                  <a:pt x="0" y="0"/>
                </a:moveTo>
                <a:lnTo>
                  <a:pt x="656268" y="0"/>
                </a:lnTo>
                <a:lnTo>
                  <a:pt x="65626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035930" y="8194276"/>
            <a:ext cx="2486165" cy="447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1">
                <a:solidFill>
                  <a:srgbClr val="FF6B00"/>
                </a:solidFill>
                <a:latin typeface="Times New Roman"/>
                <a:ea typeface="Roboto Bold"/>
                <a:cs typeface="Times New Roman"/>
                <a:sym typeface="Roboto Bold"/>
              </a:rPr>
              <a:t>THERMAL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67542" y="8843585"/>
            <a:ext cx="352132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tells us where heat is</a:t>
            </a:r>
            <a:endParaRPr lang="en-US" sz="2800">
              <a:solidFill>
                <a:srgbClr val="FFFFFF"/>
              </a:solidFill>
              <a:latin typeface="Times New Roman"/>
              <a:ea typeface="Roboto"/>
              <a:cs typeface="Times New Roman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6075798" y="8133399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845176" y="8131646"/>
            <a:ext cx="3198771" cy="447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1">
                <a:solidFill>
                  <a:srgbClr val="00A6FF"/>
                </a:solidFill>
                <a:latin typeface="Times New Roman"/>
                <a:ea typeface="Roboto Bold"/>
                <a:cs typeface="Times New Roman"/>
                <a:sym typeface="Roboto Bold"/>
              </a:rPr>
              <a:t>SPECTRAL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86519" y="8825478"/>
            <a:ext cx="4520643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18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helps explain why the signal is plausible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11320622" y="8133399"/>
            <a:ext cx="218756" cy="1519546"/>
          </a:xfrm>
          <a:custGeom>
            <a:avLst/>
            <a:gdLst/>
            <a:ahLst/>
            <a:cxnLst/>
            <a:rect l="l" t="t" r="r" b="b"/>
            <a:pathLst>
              <a:path w="218756" h="1519546">
                <a:moveTo>
                  <a:pt x="0" y="0"/>
                </a:moveTo>
                <a:lnTo>
                  <a:pt x="218756" y="0"/>
                </a:lnTo>
                <a:lnTo>
                  <a:pt x="21875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365069" y="8194276"/>
            <a:ext cx="4374088" cy="447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1">
                <a:solidFill>
                  <a:srgbClr val="00A6FF"/>
                </a:solidFill>
                <a:latin typeface="Times New Roman"/>
                <a:ea typeface="Roboto Bold"/>
                <a:cs typeface="Times New Roman"/>
                <a:sym typeface="Roboto Bold"/>
              </a:rPr>
              <a:t>QUALITY FLAGS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161521" y="8805003"/>
            <a:ext cx="3541232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1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confirm the data we can trust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86384" y="2868269"/>
            <a:ext cx="292608" cy="32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1991" b="1">
                <a:solidFill>
                  <a:srgbClr val="FFFFFF"/>
                </a:solidFill>
                <a:latin typeface="Times New Roman"/>
                <a:ea typeface="Roboto Bold"/>
                <a:cs typeface="Times New Roman"/>
                <a:sym typeface="Roboto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42711" y="791216"/>
            <a:ext cx="7732190" cy="399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b="1">
                <a:solidFill>
                  <a:srgbClr val="00A0E8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03 / FIELD EXAMPLE – RIYADH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8368" y="1571489"/>
            <a:ext cx="7577370" cy="2236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7200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A persistent hot pocket</a:t>
            </a:r>
            <a:endParaRPr lang="en-US" sz="7200" b="1">
              <a:solidFill>
                <a:srgbClr val="FFFFFF"/>
              </a:solidFill>
              <a:latin typeface="Times New Roman"/>
              <a:ea typeface="Roboto Condensed Bold"/>
              <a:cs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2710" y="4359521"/>
            <a:ext cx="6766560" cy="414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b="1">
                <a:solidFill>
                  <a:srgbClr val="00A0E8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22 July 2025</a:t>
            </a:r>
            <a:r>
              <a:rPr lang="en-US" sz="2723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 Landsat 8, 120 m analysis cells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2710" y="4952412"/>
            <a:ext cx="5998464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Surface temperature is a screening signal, not air temperature.</a:t>
            </a:r>
            <a:endParaRPr lang="en-US" sz="2800">
              <a:solidFill>
                <a:srgbClr val="FFFFFF"/>
              </a:solidFill>
              <a:latin typeface="Times New Roman"/>
              <a:ea typeface="Roboto Condensed"/>
              <a:cs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645330" y="5990729"/>
            <a:ext cx="9373694" cy="229572"/>
          </a:xfrm>
          <a:custGeom>
            <a:avLst/>
            <a:gdLst/>
            <a:ahLst/>
            <a:cxnLst/>
            <a:rect l="l" t="t" r="r" b="b"/>
            <a:pathLst>
              <a:path w="9373694" h="229572">
                <a:moveTo>
                  <a:pt x="0" y="0"/>
                </a:moveTo>
                <a:lnTo>
                  <a:pt x="9373694" y="0"/>
                </a:lnTo>
                <a:lnTo>
                  <a:pt x="9373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58368" y="6637145"/>
            <a:ext cx="2121408" cy="653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1"/>
              </a:lnSpc>
            </a:pPr>
            <a:r>
              <a:rPr lang="en-US" sz="5468" b="1">
                <a:solidFill>
                  <a:srgbClr val="FF7A00"/>
                </a:solidFill>
                <a:latin typeface="Times New Roman"/>
                <a:ea typeface="Roboto Bold"/>
                <a:cs typeface="Times New Roman"/>
                <a:sym typeface="Roboto Bold"/>
              </a:rPr>
              <a:t>54.6°C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8368" y="7483084"/>
            <a:ext cx="2523744" cy="903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1819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SURFACE TEMPERATURE AT 24.6784°N, 46.74442°E</a:t>
            </a:r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259464" y="6428009"/>
            <a:ext cx="229694" cy="2153601"/>
          </a:xfrm>
          <a:custGeom>
            <a:avLst/>
            <a:gdLst/>
            <a:ahLst/>
            <a:cxnLst/>
            <a:rect l="l" t="t" r="r" b="b"/>
            <a:pathLst>
              <a:path w="229694" h="2153601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694176" y="6644906"/>
            <a:ext cx="1682496" cy="640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2"/>
              </a:lnSpc>
            </a:pPr>
            <a:r>
              <a:rPr lang="en-US" sz="5339" b="1">
                <a:solidFill>
                  <a:srgbClr val="FF7A00"/>
                </a:solidFill>
                <a:latin typeface="Times New Roman"/>
                <a:ea typeface="Roboto Bold"/>
                <a:cs typeface="Times New Roman"/>
                <a:sym typeface="Roboto Bold"/>
              </a:rPr>
              <a:t>3.5°C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94176" y="7485354"/>
            <a:ext cx="1572768" cy="901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1819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ABOVE STUDY MEDIAN</a:t>
            </a:r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654842" y="6428009"/>
            <a:ext cx="229694" cy="2153601"/>
          </a:xfrm>
          <a:custGeom>
            <a:avLst/>
            <a:gdLst/>
            <a:ahLst/>
            <a:cxnLst/>
            <a:rect l="l" t="t" r="r" b="b"/>
            <a:pathLst>
              <a:path w="229694" h="2153601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144768" y="6652901"/>
            <a:ext cx="1792224" cy="643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5425" b="1">
                <a:solidFill>
                  <a:srgbClr val="FF7A00"/>
                </a:solidFill>
                <a:latin typeface="Times New Roman"/>
                <a:ea typeface="Roboto Bold"/>
                <a:cs typeface="Times New Roman"/>
                <a:sym typeface="Roboto Bold"/>
              </a:rPr>
              <a:t>0.043</a:t>
            </a:r>
          </a:p>
        </p:txBody>
      </p:sp>
      <p:sp>
        <p:nvSpPr>
          <p:cNvPr id="15" name="Freeform 15"/>
          <p:cNvSpPr/>
          <p:nvPr/>
        </p:nvSpPr>
        <p:spPr>
          <a:xfrm>
            <a:off x="8268976" y="6428009"/>
            <a:ext cx="229694" cy="2153601"/>
          </a:xfrm>
          <a:custGeom>
            <a:avLst/>
            <a:gdLst/>
            <a:ahLst/>
            <a:cxnLst/>
            <a:rect l="l" t="t" r="r" b="b"/>
            <a:pathLst>
              <a:path w="229694" h="2153601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595360" y="6652479"/>
            <a:ext cx="1280160" cy="645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6"/>
              </a:lnSpc>
            </a:pPr>
            <a:r>
              <a:rPr lang="en-US" sz="5474" b="1">
                <a:solidFill>
                  <a:srgbClr val="FF7A00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3 /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95360" y="7478548"/>
            <a:ext cx="1188720" cy="594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4"/>
              </a:lnSpc>
            </a:pPr>
            <a:r>
              <a:rPr lang="en-US" sz="1857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HOT DATES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2711" y="8883521"/>
            <a:ext cx="9632138" cy="724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The same 600 m neighborhood stayed above</a:t>
            </a:r>
            <a:endParaRPr lang="en-US" sz="2800">
              <a:solidFill>
                <a:srgbClr val="FFFFFF"/>
              </a:solidFill>
              <a:latin typeface="Times New Roman"/>
              <a:ea typeface="Roboto Condensed"/>
              <a:cs typeface="Times New Roman"/>
            </a:endParaRPr>
          </a:p>
          <a:p>
            <a:pPr algn="l">
              <a:lnSpc>
                <a:spcPts val="2759"/>
              </a:lnSpc>
            </a:pPr>
            <a:r>
              <a:rPr lang="en-US" sz="2800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its date-specific 90th percentile across all three scenes.</a:t>
            </a:r>
            <a:endParaRPr lang="en-US" sz="2800">
              <a:solidFill>
                <a:srgbClr val="FFFFFF"/>
              </a:solidFill>
              <a:latin typeface="Times New Roman"/>
              <a:ea typeface="Roboto Condensed"/>
              <a:cs typeface="Times New Roman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711696" y="7478548"/>
            <a:ext cx="548640" cy="594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4"/>
              </a:lnSpc>
            </a:pPr>
            <a:r>
              <a:rPr lang="en-US" sz="1857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NDVI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883110" y="1279043"/>
            <a:ext cx="7404890" cy="4088563"/>
          </a:xfrm>
          <a:custGeom>
            <a:avLst/>
            <a:gdLst/>
            <a:ahLst/>
            <a:cxnLst/>
            <a:rect l="l" t="t" r="r" b="b"/>
            <a:pathLst>
              <a:path w="7404890" h="4088563">
                <a:moveTo>
                  <a:pt x="0" y="0"/>
                </a:moveTo>
                <a:lnTo>
                  <a:pt x="7404890" y="0"/>
                </a:lnTo>
                <a:lnTo>
                  <a:pt x="7404890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1965952" y="3848060"/>
            <a:ext cx="3500096" cy="4088563"/>
          </a:xfrm>
          <a:custGeom>
            <a:avLst/>
            <a:gdLst/>
            <a:ahLst/>
            <a:cxnLst/>
            <a:rect l="l" t="t" r="r" b="b"/>
            <a:pathLst>
              <a:path w="3500096" h="4088563">
                <a:moveTo>
                  <a:pt x="0" y="0"/>
                </a:moveTo>
                <a:lnTo>
                  <a:pt x="3500096" y="0"/>
                </a:lnTo>
                <a:lnTo>
                  <a:pt x="350009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60999" y="697568"/>
            <a:ext cx="6637666" cy="423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554" b="1">
                <a:solidFill>
                  <a:srgbClr val="00A6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04 / PROOF OF CONCEPT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" y="1338873"/>
            <a:ext cx="8558784" cy="194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0"/>
              </a:lnSpc>
            </a:pPr>
            <a:r>
              <a:rPr lang="en-US" sz="6600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The baseline is measurable and honest</a:t>
            </a:r>
            <a:endParaRPr lang="en-US" sz="6600" b="1">
              <a:solidFill>
                <a:srgbClr val="FFFFFF"/>
              </a:solidFill>
              <a:latin typeface="Times New Roman"/>
              <a:ea typeface="Roboto Condensed Bold"/>
              <a:cs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46587" y="4061521"/>
            <a:ext cx="2155025" cy="786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4" b="1">
                <a:solidFill>
                  <a:srgbClr val="00A6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LST CONVERSION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8848" y="3408795"/>
            <a:ext cx="5303520" cy="88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554" b="1">
                <a:solidFill>
                  <a:srgbClr val="FF9A2B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LST = </a:t>
            </a:r>
            <a:r>
              <a:rPr lang="en-US" sz="2554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DN × 0.00341802 + 149 – 273.15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30163" y="4279874"/>
            <a:ext cx="5969278" cy="1130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ST_B10 is scaled to °C. Cloud, shadow, saturation, aerosol and high ST_QA pixels are removed. The analysis aggregates to 120 m.</a:t>
            </a:r>
            <a:endParaRPr lang="en-US" sz="2400">
              <a:solidFill>
                <a:srgbClr val="FFFFFF"/>
              </a:solidFill>
              <a:latin typeface="Times New Roman"/>
              <a:ea typeface="Roboto Condensed"/>
              <a:cs typeface="Times New Roman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645330" y="5564382"/>
            <a:ext cx="9373694" cy="229572"/>
          </a:xfrm>
          <a:custGeom>
            <a:avLst/>
            <a:gdLst/>
            <a:ahLst/>
            <a:cxnLst/>
            <a:rect l="l" t="t" r="r" b="b"/>
            <a:pathLst>
              <a:path w="9373694" h="229572">
                <a:moveTo>
                  <a:pt x="0" y="0"/>
                </a:moveTo>
                <a:lnTo>
                  <a:pt x="9373694" y="0"/>
                </a:lnTo>
                <a:lnTo>
                  <a:pt x="9373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76656" y="6096389"/>
            <a:ext cx="3364992" cy="1019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8"/>
              </a:lnSpc>
            </a:pPr>
            <a:r>
              <a:rPr lang="en-US" sz="2248" b="1">
                <a:solidFill>
                  <a:srgbClr val="00A6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VALIDATION ON</a:t>
            </a:r>
          </a:p>
          <a:p>
            <a:pPr algn="l">
              <a:lnSpc>
                <a:spcPts val="2698"/>
              </a:lnSpc>
            </a:pPr>
            <a:r>
              <a:rPr lang="en-US" sz="2248" b="1">
                <a:solidFill>
                  <a:srgbClr val="00A6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 HELD-OUT EASTERN RIYADH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59808" y="5940206"/>
            <a:ext cx="1746504" cy="65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3914" b="1">
                <a:solidFill>
                  <a:srgbClr val="FF9A2B"/>
                </a:solidFill>
                <a:latin typeface="Times New Roman"/>
                <a:ea typeface="Roboto Bold"/>
                <a:cs typeface="Times New Roman"/>
                <a:sym typeface="Roboto Bold"/>
              </a:rPr>
              <a:t>1.94°C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75048" y="6602687"/>
            <a:ext cx="1408176" cy="428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554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MAE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3680" y="5940206"/>
            <a:ext cx="1807464" cy="65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3914" b="1">
                <a:solidFill>
                  <a:srgbClr val="FF9A2B"/>
                </a:solidFill>
                <a:latin typeface="Times New Roman"/>
                <a:ea typeface="Roboto Bold"/>
                <a:cs typeface="Times New Roman"/>
                <a:sym typeface="Roboto Bold"/>
              </a:rPr>
              <a:t>2.17°C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83680" y="6617927"/>
            <a:ext cx="1207008" cy="428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554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RMSE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68512" y="5944869"/>
            <a:ext cx="1435608" cy="65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3851" b="1">
                <a:solidFill>
                  <a:srgbClr val="FF9A2B"/>
                </a:solidFill>
                <a:latin typeface="Times New Roman"/>
                <a:ea typeface="Roboto Bold"/>
                <a:cs typeface="Times New Roman"/>
                <a:sym typeface="Roboto Bold"/>
              </a:rPr>
              <a:t>–0.37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330" y="7280704"/>
            <a:ext cx="9373694" cy="229572"/>
          </a:xfrm>
          <a:custGeom>
            <a:avLst/>
            <a:gdLst/>
            <a:ahLst/>
            <a:cxnLst/>
            <a:rect l="l" t="t" r="r" b="b"/>
            <a:pathLst>
              <a:path w="9373694" h="229572">
                <a:moveTo>
                  <a:pt x="0" y="0"/>
                </a:moveTo>
                <a:lnTo>
                  <a:pt x="9373694" y="0"/>
                </a:lnTo>
                <a:lnTo>
                  <a:pt x="9373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6656" y="7396586"/>
            <a:ext cx="3364992" cy="1019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8"/>
              </a:lnSpc>
            </a:pPr>
            <a:r>
              <a:rPr lang="en-US" sz="2248" b="1">
                <a:solidFill>
                  <a:srgbClr val="00A6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INPUTS RANKED BY</a:t>
            </a:r>
          </a:p>
          <a:p>
            <a:pPr algn="l">
              <a:lnSpc>
                <a:spcPts val="2698"/>
              </a:lnSpc>
            </a:pPr>
            <a:r>
              <a:rPr lang="en-US" sz="2248" b="1">
                <a:solidFill>
                  <a:srgbClr val="00A6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PERMUTATION IMPORTANCE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44568" y="7616528"/>
            <a:ext cx="5245608" cy="428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554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Visible brightness, BSI, NDBI, NDVI</a:t>
            </a:r>
          </a:p>
        </p:txBody>
      </p:sp>
      <p:sp>
        <p:nvSpPr>
          <p:cNvPr id="20" name="Freeform 20"/>
          <p:cNvSpPr/>
          <p:nvPr/>
        </p:nvSpPr>
        <p:spPr>
          <a:xfrm>
            <a:off x="645330" y="8352038"/>
            <a:ext cx="9373694" cy="229572"/>
          </a:xfrm>
          <a:custGeom>
            <a:avLst/>
            <a:gdLst/>
            <a:ahLst/>
            <a:cxnLst/>
            <a:rect l="l" t="t" r="r" b="b"/>
            <a:pathLst>
              <a:path w="9373694" h="229572">
                <a:moveTo>
                  <a:pt x="0" y="0"/>
                </a:moveTo>
                <a:lnTo>
                  <a:pt x="9373694" y="0"/>
                </a:lnTo>
                <a:lnTo>
                  <a:pt x="9373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0999" y="8800421"/>
            <a:ext cx="8708720" cy="1250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0"/>
              </a:lnSpc>
            </a:pPr>
            <a:r>
              <a:rPr lang="en-US" sz="2550" b="1">
                <a:solidFill>
                  <a:srgbClr val="FFFFFF"/>
                </a:solidFill>
                <a:ea typeface="+mn-lt"/>
                <a:cs typeface="+mn-lt"/>
                <a:sym typeface="Roboto Condensed"/>
              </a:rPr>
              <a:t>While the R² highlights the complexity of urban microclimates, our low absolute error (1.94°C) establishes a </a:t>
            </a:r>
            <a:r>
              <a:rPr lang="en-US" sz="2550" b="1">
                <a:solidFill>
                  <a:srgbClr val="FFFFFF"/>
                </a:solidFill>
                <a:ea typeface="+mn-lt"/>
                <a:cs typeface="+mn-lt"/>
                <a:sym typeface="Roboto Condensed Bold"/>
              </a:rPr>
              <a:t>reliable and transparent </a:t>
            </a:r>
            <a:r>
              <a:rPr lang="en-US" sz="2550" b="1">
                <a:solidFill>
                  <a:srgbClr val="FFFFFF"/>
                </a:solidFill>
                <a:ea typeface="+mn-lt"/>
                <a:cs typeface="+mn-lt"/>
                <a:sym typeface="Roboto Condensed"/>
              </a:rPr>
              <a:t>foundation for future model refinement.</a:t>
            </a:r>
            <a:endParaRPr lang="en-US" sz="2550" b="1">
              <a:ea typeface="+mn-lt"/>
              <a:cs typeface="+mn-l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668512" y="6617927"/>
            <a:ext cx="719328" cy="423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554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R²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039176" y="1666886"/>
            <a:ext cx="6695357" cy="6116189"/>
          </a:xfrm>
          <a:custGeom>
            <a:avLst/>
            <a:gdLst/>
            <a:ahLst/>
            <a:cxnLst/>
            <a:rect l="l" t="t" r="r" b="b"/>
            <a:pathLst>
              <a:path w="9811206" h="7728915">
                <a:moveTo>
                  <a:pt x="0" y="0"/>
                </a:moveTo>
                <a:lnTo>
                  <a:pt x="9811206" y="0"/>
                </a:lnTo>
                <a:lnTo>
                  <a:pt x="9811206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76950" y="661775"/>
            <a:ext cx="3023616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 b="1">
                <a:solidFill>
                  <a:srgbClr val="00BAFF"/>
                </a:solidFill>
                <a:latin typeface="Roboto Bold"/>
                <a:ea typeface="Roboto Bold"/>
                <a:cs typeface="Roboto Bold"/>
                <a:sym typeface="Roboto Bold"/>
              </a:rPr>
              <a:t>05 / IMPACT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615" y="1367910"/>
            <a:ext cx="18244534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80"/>
              </a:lnSpc>
            </a:pPr>
            <a:r>
              <a:rPr lang="en-US" sz="7350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Turn a hotspot into a design decision</a:t>
            </a:r>
            <a:endParaRPr lang="en-US" sz="7350" b="1">
              <a:solidFill>
                <a:srgbClr val="FFFFFF"/>
              </a:solidFill>
              <a:latin typeface="Times New Roman"/>
              <a:ea typeface="Roboto Condensed Bold"/>
              <a:cs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8516" y="2778058"/>
            <a:ext cx="10733428" cy="870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4"/>
              </a:lnSpc>
            </a:pPr>
            <a:r>
              <a:rPr lang="en-US" sz="2800" b="1">
                <a:solidFill>
                  <a:schemeClr val="bg1"/>
                </a:solidFill>
                <a:latin typeface="Times New Roman"/>
                <a:ea typeface="+mn-lt"/>
                <a:cs typeface="Times New Roman"/>
                <a:sym typeface="Roboto"/>
              </a:rPr>
              <a:t>Identify Priority Areas</a:t>
            </a:r>
            <a:br>
              <a:rPr lang="en-US" sz="28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2800">
                <a:solidFill>
                  <a:schemeClr val="bg1"/>
                </a:solidFill>
                <a:latin typeface="Times New Roman"/>
                <a:ea typeface="+mn-lt"/>
                <a:cs typeface="Times New Roman"/>
                <a:sym typeface="Roboto"/>
              </a:rPr>
              <a:t> Pinpoint persistent hotspots needing cooling interventions.</a:t>
            </a:r>
            <a:endParaRPr lang="en-US" sz="28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8100" y="4127857"/>
            <a:ext cx="103237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64"/>
              </a:lnSpc>
            </a:pPr>
            <a:r>
              <a:rPr lang="en-US" sz="2800" b="1">
                <a:solidFill>
                  <a:srgbClr val="FFFFFF"/>
                </a:solidFill>
                <a:latin typeface="Times New Roman"/>
                <a:ea typeface="+mn-lt"/>
                <a:cs typeface="Times New Roman"/>
                <a:sym typeface="Roboto"/>
              </a:rPr>
              <a:t>Guide Future Urban Expansion</a:t>
            </a:r>
            <a:endParaRPr lang="en-US" sz="2800" b="1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>
              <a:lnSpc>
                <a:spcPts val="3064"/>
              </a:lnSpc>
            </a:pPr>
            <a:r>
              <a:rPr lang="en-US" sz="280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Assess land-cover changes and heat risks before development.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516" y="5377812"/>
            <a:ext cx="9737440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64"/>
              </a:lnSpc>
            </a:pPr>
            <a:r>
              <a:rPr lang="en-US" sz="2800" b="1">
                <a:solidFill>
                  <a:srgbClr val="FFFFFF"/>
                </a:solidFill>
                <a:latin typeface="Times New Roman"/>
                <a:ea typeface="+mn-lt"/>
                <a:cs typeface="Times New Roman"/>
                <a:sym typeface="Roboto"/>
              </a:rPr>
              <a:t>Support Effective Cooling Strategies</a:t>
            </a:r>
            <a:br>
              <a:rPr lang="en-US" sz="2800" b="1">
                <a:latin typeface="Times New Roman"/>
                <a:ea typeface="+mn-lt"/>
                <a:cs typeface="Times New Roman"/>
              </a:rPr>
            </a:br>
            <a:r>
              <a:rPr lang="en-US" sz="2800" b="1">
                <a:solidFill>
                  <a:srgbClr val="FFFFFF"/>
                </a:solidFill>
                <a:latin typeface="Times New Roman"/>
                <a:ea typeface="+mn-lt"/>
                <a:cs typeface="Times New Roman"/>
                <a:sym typeface="Roboto"/>
              </a:rPr>
              <a:t> </a:t>
            </a:r>
            <a:r>
              <a:rPr lang="en-US" sz="2800">
                <a:solidFill>
                  <a:srgbClr val="FFFFFF"/>
                </a:solidFill>
                <a:latin typeface="Times New Roman"/>
                <a:ea typeface="+mn-lt"/>
                <a:cs typeface="Times New Roman"/>
                <a:sym typeface="Roboto"/>
              </a:rPr>
              <a:t>Help planners prioritize vegetation, shading, and reflective materials.</a:t>
            </a:r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8099" y="6982882"/>
            <a:ext cx="10923823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64"/>
              </a:lnSpc>
            </a:pPr>
            <a:r>
              <a:rPr lang="en-US" sz="2800" b="1">
                <a:solidFill>
                  <a:srgbClr val="FFFFFF"/>
                </a:solidFill>
                <a:latin typeface="Times New Roman"/>
                <a:ea typeface="+mn-lt"/>
                <a:cs typeface="Times New Roman"/>
                <a:sym typeface="Roboto"/>
              </a:rPr>
              <a:t>Monitor Long-Term Impact</a:t>
            </a:r>
            <a:br>
              <a:rPr lang="en-US" sz="2800" b="1">
                <a:latin typeface="Times New Roman"/>
                <a:ea typeface="+mn-lt"/>
                <a:cs typeface="Times New Roman"/>
              </a:rPr>
            </a:br>
            <a:r>
              <a:rPr lang="en-US" sz="2800" b="1">
                <a:solidFill>
                  <a:srgbClr val="FFFFFF"/>
                </a:solidFill>
                <a:latin typeface="Times New Roman"/>
                <a:ea typeface="+mn-lt"/>
                <a:cs typeface="Times New Roman"/>
                <a:sym typeface="Roboto"/>
              </a:rPr>
              <a:t> </a:t>
            </a:r>
            <a:r>
              <a:rPr lang="en-US" sz="2800">
                <a:solidFill>
                  <a:srgbClr val="FFFFFF"/>
                </a:solidFill>
                <a:latin typeface="Times New Roman"/>
                <a:ea typeface="+mn-lt"/>
                <a:cs typeface="Times New Roman"/>
                <a:sym typeface="Roboto"/>
              </a:rPr>
              <a:t>Monitor surface temperatures and intervention effectiveness over time. </a:t>
            </a:r>
            <a:endParaRPr lang="en-US" sz="28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45330" y="8133399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914525" y="8591959"/>
            <a:ext cx="2487168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72"/>
              </a:lnSpc>
            </a:pPr>
            <a:r>
              <a:rPr lang="en-US" sz="6000" b="1">
                <a:solidFill>
                  <a:srgbClr val="FF73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0.79°C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0231" y="8598317"/>
            <a:ext cx="4169664" cy="774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0">
                <a:solidFill>
                  <a:srgbClr val="FFFFFF"/>
                </a:solidFill>
                <a:latin typeface="Times New Roman"/>
                <a:ea typeface="Roboto"/>
                <a:cs typeface="Times New Roman"/>
                <a:sym typeface="Roboto"/>
              </a:rPr>
              <a:t>modeled difference between two spectral mixes.</a:t>
            </a:r>
            <a:endParaRPr lang="en-US" sz="2550">
              <a:solidFill>
                <a:srgbClr val="FFFFFF"/>
              </a:solidFill>
              <a:latin typeface="Times New Roman"/>
              <a:ea typeface="Roboto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01974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3600">
              <a:latin typeface="Times New Roman"/>
              <a:cs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445598" y="0"/>
            <a:ext cx="7842402" cy="10287000"/>
          </a:xfrm>
          <a:custGeom>
            <a:avLst/>
            <a:gdLst/>
            <a:ahLst/>
            <a:cxnLst/>
            <a:rect l="l" t="t" r="r" b="b"/>
            <a:pathLst>
              <a:path w="7842402" h="10287000">
                <a:moveTo>
                  <a:pt x="0" y="0"/>
                </a:moveTo>
                <a:lnTo>
                  <a:pt x="7842402" y="0"/>
                </a:lnTo>
                <a:lnTo>
                  <a:pt x="7842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0999" y="603553"/>
            <a:ext cx="523462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2000">
                <a:solidFill>
                  <a:srgbClr val="00B5FF"/>
                </a:solidFill>
                <a:latin typeface="Times New Roman"/>
                <a:ea typeface="Roboto"/>
                <a:cs typeface="Times New Roman"/>
                <a:sym typeface="Roboto"/>
              </a:rPr>
              <a:t>06 / SOURCES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0999" y="1256347"/>
            <a:ext cx="10070674" cy="2016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61"/>
              </a:lnSpc>
            </a:pPr>
            <a:r>
              <a:rPr lang="en-US" sz="6600" b="1">
                <a:solidFill>
                  <a:srgbClr val="FFFF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Evidence behind the prototype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0999" y="3756610"/>
            <a:ext cx="7547181" cy="305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2800" b="1">
                <a:solidFill>
                  <a:srgbClr val="00B5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KEY DATA AND RESEARCH SOURCES</a:t>
            </a:r>
            <a:endParaRPr lang="en-US" sz="2800" b="1">
              <a:solidFill>
                <a:srgbClr val="00B5FF"/>
              </a:solidFill>
              <a:latin typeface="Times New Roman"/>
              <a:ea typeface="Roboto Condensed Bold"/>
              <a:cs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645330" y="7707051"/>
            <a:ext cx="9373694" cy="229572"/>
          </a:xfrm>
          <a:custGeom>
            <a:avLst/>
            <a:gdLst/>
            <a:ahLst/>
            <a:cxnLst/>
            <a:rect l="l" t="t" r="r" b="b"/>
            <a:pathLst>
              <a:path w="9373694" h="229572">
                <a:moveTo>
                  <a:pt x="0" y="0"/>
                </a:moveTo>
                <a:lnTo>
                  <a:pt x="9373694" y="0"/>
                </a:lnTo>
                <a:lnTo>
                  <a:pt x="9373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45341" y="8119529"/>
            <a:ext cx="3602194" cy="3149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800" b="1">
                <a:solidFill>
                  <a:srgbClr val="00B5FF"/>
                </a:solidFill>
                <a:latin typeface="Times New Roman"/>
                <a:ea typeface="Roboto Condensed Bold"/>
                <a:cs typeface="Times New Roman"/>
                <a:sym typeface="Roboto Condensed Bold"/>
              </a:rPr>
              <a:t>REPRODUCIBILITY</a:t>
            </a:r>
            <a:endParaRPr lang="en-US" sz="2800" b="1">
              <a:solidFill>
                <a:srgbClr val="00B5FF"/>
              </a:solidFill>
              <a:latin typeface="Times New Roman"/>
              <a:ea typeface="Roboto Condensed Bold"/>
              <a:cs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1416" y="8799618"/>
            <a:ext cx="8511603" cy="245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Reproduce: 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+mn-lt"/>
                <a:cs typeface="Times New Roman"/>
                <a:sym typeface="Roboto Condensed"/>
              </a:rPr>
              <a:t>https://github.com/Mortrex12/riyadh-heatmap-ai</a:t>
            </a:r>
            <a:endParaRPr lang="en-US" sz="2400">
              <a:solidFill>
                <a:srgbClr val="FF6B00"/>
              </a:solidFill>
              <a:latin typeface="Times New Roman"/>
              <a:ea typeface="Roboto Condensed"/>
              <a:cs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60999" y="9244761"/>
            <a:ext cx="9248717" cy="283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Roboto Condensed"/>
                <a:cs typeface="Times New Roman"/>
                <a:sym typeface="Roboto Condensed"/>
              </a:rPr>
              <a:t>Full URLs and reproducibility files are included in the companion website.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0916" y="4710677"/>
            <a:ext cx="4440936" cy="24526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4"/>
              </a:lnSpc>
            </a:pP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Times New Roman"/>
                <a:sym typeface="Roboto Condense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Copernicus Sentinel-2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191448" y="4727170"/>
            <a:ext cx="3742944" cy="476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4"/>
              </a:lnSpc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Times New Roman"/>
                <a:sym typeface="Roboto Condensed"/>
              </a:rPr>
              <a:t>https://dataspace.copernicus.eu/</a:t>
            </a:r>
            <a:endParaRPr lang="en-US" sz="240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3525" y="5282156"/>
            <a:ext cx="5596128" cy="974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Times New Roman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Planet Tanager Hyperspectral</a:t>
            </a: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Times New Roman"/>
                <a:sym typeface="Roboto Condensed"/>
              </a:rPr>
              <a:t> 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  <a:sym typeface="Roboto Condensed"/>
            </a:endParaRPr>
          </a:p>
          <a:p>
            <a:pPr marL="285750" indent="-285750">
              <a:buFont typeface="Arial"/>
              <a:buChar char="•"/>
            </a:pPr>
            <a:endParaRPr lang="en-US" sz="2400">
              <a:solidFill>
                <a:schemeClr val="bg1"/>
              </a:solidFill>
              <a:latin typeface="Times New Roman"/>
              <a:cs typeface="Times New Roman"/>
              <a:sym typeface="Roboto Condensed"/>
            </a:endParaRPr>
          </a:p>
          <a:p>
            <a:pPr algn="l">
              <a:lnSpc>
                <a:spcPts val="1692"/>
              </a:lnSpc>
            </a:pPr>
            <a:endParaRPr lang="en-US" sz="2400">
              <a:solidFill>
                <a:srgbClr val="FFFFFF"/>
              </a:solidFill>
              <a:latin typeface="Times New Roman"/>
              <a:ea typeface="Roboto Condensed"/>
              <a:cs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191448" y="5278242"/>
            <a:ext cx="3880104" cy="245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4"/>
              </a:lnSpc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Times New Roman"/>
                <a:sym typeface="Roboto Condensed"/>
              </a:rPr>
              <a:t>https://www.planet.com/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20497" y="5820733"/>
            <a:ext cx="5525774" cy="245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4"/>
              </a:lnSpc>
            </a:pPr>
            <a:r>
              <a:rPr lang="en-US" sz="2400" b="1">
                <a:solidFill>
                  <a:schemeClr val="bg1"/>
                </a:solidFill>
                <a:latin typeface="Times New Roman"/>
                <a:ea typeface="+mn-lt"/>
                <a:cs typeface="Times New Roman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Landsat Program (NASA/USGS)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223181" y="5821986"/>
            <a:ext cx="3163824" cy="488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4"/>
              </a:lnSpc>
            </a:pPr>
            <a:r>
              <a:rPr lang="en-US" sz="2400">
                <a:solidFill>
                  <a:schemeClr val="bg1"/>
                </a:solidFill>
                <a:latin typeface="Times New Roman"/>
                <a:ea typeface="+mn-lt"/>
                <a:cs typeface="Times New Roman"/>
                <a:sym typeface="Roboto Condensed"/>
              </a:rPr>
              <a:t>https://science.nasa.gov/mission/landsat/</a:t>
            </a:r>
            <a:endParaRPr lang="en-US" sz="240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078505" y="6488448"/>
            <a:ext cx="3950208" cy="476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4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+mn-lt"/>
                <a:cs typeface="Times New Roman"/>
                <a:sym typeface="Roboto Condensed"/>
              </a:rPr>
              <a:t>NDVI (Normalized Difference Vegetation Index)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4015" y="6974767"/>
            <a:ext cx="3255264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4"/>
              </a:lnSpc>
            </a:pPr>
            <a:r>
              <a:rPr lang="en-US" sz="2400" b="1">
                <a:solidFill>
                  <a:srgbClr val="FFFFFF"/>
                </a:solidFill>
                <a:latin typeface="Times New Roman"/>
                <a:ea typeface="+mn-lt"/>
                <a:cs typeface="Times New Roman"/>
                <a:sym typeface="Roboto Condensed"/>
              </a:rPr>
              <a:t>LULC (Land Use and Land Cover) Change Analysis</a:t>
            </a: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